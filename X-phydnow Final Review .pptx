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0" r:id="rId18"/>
    <p:sldId id="28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8288000" cy="10287000"/>
  <p:notesSz cx="6858000" cy="9144000"/>
  <p:embeddedFontLst>
    <p:embeddedFont>
      <p:font typeface="Arial MT Pro" panose="020B0604020202020204" charset="0"/>
      <p:regular r:id="rId29"/>
    </p:embeddedFont>
    <p:embeddedFont>
      <p:font typeface="Arial MT Pro Bold" panose="020B0604020202020204" charset="0"/>
      <p:regular r:id="rId30"/>
    </p:embeddedFont>
    <p:embeddedFont>
      <p:font typeface="Times New Roman MT" panose="020B0604020202020204" charset="0"/>
      <p:regular r:id="rId31"/>
    </p:embeddedFont>
    <p:embeddedFont>
      <p:font typeface="Times New Roman MT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D6768-6FAF-4E3B-A44E-231A21AD0C8E}" v="1" dt="2026-04-14T05:24:14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a .B.N" userId="256594b8adea9975" providerId="LiveId" clId="{6A0F8F04-C4D1-43B6-9AFE-69BD75FC554A}"/>
    <pc:docChg chg="undo custSel addSld modSld">
      <pc:chgData name="Nayana .B.N" userId="256594b8adea9975" providerId="LiveId" clId="{6A0F8F04-C4D1-43B6-9AFE-69BD75FC554A}" dt="2026-04-14T05:24:14.536" v="270"/>
      <pc:docMkLst>
        <pc:docMk/>
      </pc:docMkLst>
      <pc:sldChg chg="modSp mod">
        <pc:chgData name="Nayana .B.N" userId="256594b8adea9975" providerId="LiveId" clId="{6A0F8F04-C4D1-43B6-9AFE-69BD75FC554A}" dt="2026-04-14T05:24:14.536" v="270"/>
        <pc:sldMkLst>
          <pc:docMk/>
          <pc:sldMk cId="0" sldId="256"/>
        </pc:sldMkLst>
        <pc:spChg chg="mod">
          <ac:chgData name="Nayana .B.N" userId="256594b8adea9975" providerId="LiveId" clId="{6A0F8F04-C4D1-43B6-9AFE-69BD75FC554A}" dt="2026-04-14T05:24:14.536" v="270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4760-3C39-59E6-C2E7-B2D92A431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AF3BDE-E4FB-4A17-B973-522F8F61AB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4D3B7-F5A3-B9DC-B520-10DFEE2600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119135-DEB9-C97E-427F-EDD09CFC6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49C9FCA-49D1-4F1C-988C-71309729E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BB601-73BB-ACC1-7906-3EF326D2D5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64AC7-0297-5410-87EB-53BE6E03B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77599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724C-7B89-750D-59DB-8F60E6AD6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CB9077-4CF5-D85A-E084-F54A226006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E3F5F-AB95-741A-AF36-D8BDA9AB98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D80EA7B-CA20-A747-9B1D-A64533D37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22C1AC9-FA5E-9619-94A6-651E0F6B7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B7367-F6B2-6C00-2B03-ADA026E905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50ADD-1890-4741-DC3D-C36B219B2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877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github.com/NayanaBN/XPhyDnow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71601" y="751690"/>
            <a:ext cx="15544800" cy="3180085"/>
            <a:chOff x="0" y="0"/>
            <a:chExt cx="20726400" cy="42401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240113"/>
            </a:xfrm>
            <a:custGeom>
              <a:avLst/>
              <a:gdLst/>
              <a:ahLst/>
              <a:cxnLst/>
              <a:rect l="l" t="t" r="r" b="b"/>
              <a:pathLst>
                <a:path w="20726400" h="4240113">
                  <a:moveTo>
                    <a:pt x="0" y="0"/>
                  </a:moveTo>
                  <a:lnTo>
                    <a:pt x="20726400" y="0"/>
                  </a:lnTo>
                  <a:lnTo>
                    <a:pt x="20726400" y="4240113"/>
                  </a:lnTo>
                  <a:lnTo>
                    <a:pt x="0" y="4240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0726400" cy="43258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59"/>
                </a:lnSpc>
              </a:pPr>
              <a:r>
                <a:rPr lang="en-US" sz="42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X-PhyDNow: An Explainable Physics-Enhanced Framework for Satellite-Based Rainfall Nowcasting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71732" y="2996910"/>
            <a:ext cx="454453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Batch Number: CDV_15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32825" y="3686175"/>
            <a:ext cx="7710210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1"/>
              </a:lnSpc>
            </a:pPr>
            <a:r>
              <a:rPr lang="en-US" sz="3159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Under the Supervision of,</a:t>
            </a:r>
          </a:p>
          <a:p>
            <a:pPr algn="ctr">
              <a:lnSpc>
                <a:spcPts val="3614"/>
              </a:lnSpc>
            </a:pPr>
            <a:endParaRPr lang="en-US" sz="3159" b="1">
              <a:solidFill>
                <a:srgbClr val="17365D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Guide: Ms. Meena kumari K S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Assistant Professor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School of Computer Science and Engineering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Presidency University</a:t>
            </a:r>
          </a:p>
          <a:p>
            <a:pPr algn="l">
              <a:lnSpc>
                <a:spcPts val="3614"/>
              </a:lnSpc>
            </a:pPr>
            <a:endParaRPr lang="en-US" sz="3011" b="1">
              <a:solidFill>
                <a:srgbClr val="17365D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Guide: Mr. Bailappa Bhovi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Assistant Professor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School of Computer Science and Engineering</a:t>
            </a:r>
          </a:p>
          <a:p>
            <a:pPr algn="l">
              <a:lnSpc>
                <a:spcPts val="3614"/>
              </a:lnSpc>
            </a:pPr>
            <a:r>
              <a:rPr lang="en-US" sz="3011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Presidency University</a:t>
            </a:r>
          </a:p>
          <a:p>
            <a:pPr algn="ctr">
              <a:lnSpc>
                <a:spcPts val="3614"/>
              </a:lnSpc>
            </a:pPr>
            <a:endParaRPr lang="en-US" sz="3011" b="1">
              <a:solidFill>
                <a:srgbClr val="17365D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76337" y="4631862"/>
          <a:ext cx="6492624" cy="2171700"/>
        </p:xfrm>
        <a:graphic>
          <a:graphicData uri="http://schemas.openxmlformats.org/drawingml/2006/table">
            <a:tbl>
              <a:tblPr/>
              <a:tblGrid>
                <a:gridCol w="26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7365D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Roll Number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7365D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20221CDV0043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Nayana B N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20221CDV0045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Tushar L G</a:t>
                      </a:r>
                      <a:endParaRPr lang="en-US" sz="1100"/>
                    </a:p>
                  </a:txBody>
                  <a:tcPr marL="91450" marR="91450" marT="91450" marB="914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5111196" y="489752"/>
            <a:ext cx="806561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CSE7302- University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865" y="7446500"/>
            <a:ext cx="11501745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Program: </a:t>
            </a:r>
            <a:r>
              <a:rPr lang="en-US" sz="2700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Devops</a:t>
            </a:r>
            <a:endParaRPr lang="en-US" sz="27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>
              <a:lnSpc>
                <a:spcPts val="3240"/>
              </a:lnSpc>
            </a:pPr>
            <a:r>
              <a:rPr lang="en-US" sz="2700" b="1" dirty="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</a:t>
            </a:r>
            <a:r>
              <a:rPr lang="en-US" sz="2700" b="1" dirty="0" err="1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HoD</a:t>
            </a:r>
            <a:r>
              <a:rPr lang="en-US" sz="2700" b="1" dirty="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US" sz="2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S </a:t>
            </a:r>
            <a:r>
              <a:rPr lang="en-US" sz="2700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Pravinth</a:t>
            </a:r>
            <a:r>
              <a:rPr lang="en-US" sz="2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Raja 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Program Project Coordinator: </a:t>
            </a:r>
            <a:r>
              <a:rPr lang="en-US" sz="2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H M Manjula</a:t>
            </a:r>
          </a:p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School Project Coordinators: </a:t>
            </a:r>
            <a:r>
              <a:rPr lang="en-US" sz="2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Sampath A K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0600" y="1508517"/>
            <a:ext cx="15819150" cy="77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 and Related work for title Selection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Analysis of Problem Statement</a:t>
            </a:r>
          </a:p>
          <a:p>
            <a:pPr marL="1351818" lvl="3" algn="just"/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Flow Chart</a:t>
            </a:r>
          </a:p>
          <a:p>
            <a:pPr marL="1351818" lvl="3" algn="just"/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Architecture</a:t>
            </a:r>
          </a:p>
          <a:p>
            <a:pPr marL="1351818" lvl="3" algn="just"/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Innovation or Novel Contributions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Git-hub Link</a:t>
            </a:r>
          </a:p>
          <a:p>
            <a:pPr marL="874835" lvl="1" indent="-437417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Timeline of the Project</a:t>
            </a:r>
          </a:p>
          <a:p>
            <a:pPr marL="874718" lvl="1" indent="-437359" algn="just">
              <a:lnSpc>
                <a:spcPts val="6182"/>
              </a:lnSpc>
              <a:buFont typeface="Arial"/>
              <a:buChar char="•"/>
            </a:pPr>
            <a:r>
              <a:rPr lang="en-US" sz="321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 Number: 134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0625" y="1541127"/>
            <a:ext cx="15819150" cy="225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67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Organization: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AICTE, Student Innovation: Disaster Management</a:t>
            </a:r>
          </a:p>
          <a:p>
            <a:pPr algn="just">
              <a:lnSpc>
                <a:spcPts val="5867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Category :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Software</a:t>
            </a:r>
          </a:p>
          <a:p>
            <a:pPr algn="just">
              <a:lnSpc>
                <a:spcPts val="5867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Description: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13755" y="3725781"/>
            <a:ext cx="13816020" cy="5788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8"/>
              </a:lnSpc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Accurate short term prediction (nowcasting) of high-impact rainfall events is critical for disaster mitigation, agriculture, and urban planning.</a:t>
            </a:r>
          </a:p>
          <a:p>
            <a:pPr algn="just">
              <a:lnSpc>
                <a:spcPts val="4158"/>
              </a:lnSpc>
            </a:pPr>
            <a:endParaRPr lang="en-US" sz="2700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158"/>
              </a:lnSpc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While deep learning models have improved rainfall prediction accuracy using satellite data, most existing approaches act as black boxes, providing little to no explanation of their predictions.</a:t>
            </a:r>
          </a:p>
          <a:p>
            <a:pPr algn="just">
              <a:lnSpc>
                <a:spcPts val="4158"/>
              </a:lnSpc>
            </a:pPr>
            <a:endParaRPr lang="en-US" sz="2700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158"/>
              </a:lnSpc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lack of interpretability limits:</a:t>
            </a:r>
          </a:p>
          <a:p>
            <a:pPr marL="582930" lvl="1" indent="-291465" algn="just">
              <a:lnSpc>
                <a:spcPts val="4158"/>
              </a:lnSpc>
              <a:buFont typeface="Arial"/>
              <a:buChar char="•"/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Trust by meteorologists</a:t>
            </a:r>
          </a:p>
          <a:p>
            <a:pPr marL="582930" lvl="1" indent="-291465" algn="just">
              <a:lnSpc>
                <a:spcPts val="4158"/>
              </a:lnSpc>
              <a:buFont typeface="Arial"/>
              <a:buChar char="•"/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Operational adoption</a:t>
            </a:r>
          </a:p>
          <a:p>
            <a:pPr marL="582930" lvl="1" indent="-291465" algn="just">
              <a:lnSpc>
                <a:spcPts val="4158"/>
              </a:lnSpc>
              <a:buFont typeface="Arial"/>
              <a:buChar char="•"/>
            </a:pPr>
            <a:r>
              <a:rPr lang="en-US" sz="2700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Understanding of model failure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 Number: 134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57346" y="1507236"/>
            <a:ext cx="14973308" cy="775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7"/>
              </a:lnSpc>
            </a:pPr>
            <a:r>
              <a:rPr lang="en-US" sz="2699" b="1" spc="-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Defination:</a:t>
            </a:r>
          </a:p>
          <a:p>
            <a:pPr algn="just">
              <a:lnSpc>
                <a:spcPts val="4157"/>
              </a:lnSpc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High-impact rainfall events cause severe consequences such as floods, landslides, infrastructure damage, and loss of life. Accurate short term rainfall nowcasting (0 to 6 hours) is critical for disaster preparedness and early warning systems.</a:t>
            </a:r>
          </a:p>
          <a:p>
            <a:pPr algn="just">
              <a:lnSpc>
                <a:spcPts val="1349"/>
              </a:lnSpc>
            </a:pPr>
            <a:endParaRPr lang="en-US" sz="2699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157"/>
              </a:lnSpc>
            </a:pPr>
            <a:r>
              <a:rPr lang="en-US" sz="2699" b="1" spc="-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Core Issue: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Traditional Numerical Weather Prediction (NWP) models: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Are computationally expensive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 poorly at short lead times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Deep learning models: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prediction accuracy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 as black boxes, offering no scientific explanation</a:t>
            </a:r>
          </a:p>
          <a:p>
            <a:pPr algn="just">
              <a:lnSpc>
                <a:spcPts val="1862"/>
              </a:lnSpc>
            </a:pPr>
            <a:endParaRPr lang="en-US" sz="2699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157"/>
              </a:lnSpc>
            </a:pPr>
            <a:r>
              <a:rPr lang="en-US" sz="2699" b="1" spc="-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Identified Gap:</a:t>
            </a:r>
          </a:p>
          <a:p>
            <a:pPr algn="just">
              <a:lnSpc>
                <a:spcPts val="4157"/>
              </a:lnSpc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There is a lack of trustworthy, explainable, and physics-aware AI systems for satellite-based rainfall nowcasting.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 Number: 134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74683" y="1618165"/>
            <a:ext cx="13044495" cy="683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7"/>
              </a:lnSpc>
            </a:pPr>
            <a:r>
              <a:rPr lang="en-US" sz="2699" b="1" spc="-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This Problem Matters: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India experiences frequent extreme rainfall events, especially during monsoon seasons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Timely and reliable nowcasting can: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 disaster response time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 decision-making by meteorological agencies</a:t>
            </a:r>
          </a:p>
          <a:p>
            <a:pPr marL="1165857" lvl="2" indent="-388619" algn="just">
              <a:lnSpc>
                <a:spcPts val="4157"/>
              </a:lnSpc>
              <a:buFont typeface="Arial"/>
              <a:buChar char="⚬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public safety alerts</a:t>
            </a:r>
          </a:p>
          <a:p>
            <a:pPr algn="just">
              <a:lnSpc>
                <a:spcPts val="4157"/>
              </a:lnSpc>
            </a:pPr>
            <a:endParaRPr lang="en-US" sz="2699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157"/>
              </a:lnSpc>
            </a:pPr>
            <a:r>
              <a:rPr lang="en-US" sz="2699" b="1" spc="-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Target Users: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Meteorological agencies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Disaster management authorities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Researchers in AI and Earth observation</a:t>
            </a:r>
          </a:p>
          <a:p>
            <a:pPr marL="582928" lvl="1" indent="-291464" algn="just">
              <a:lnSpc>
                <a:spcPts val="4157"/>
              </a:lnSpc>
              <a:buFont typeface="Arial"/>
              <a:buChar char="•"/>
            </a:pPr>
            <a:r>
              <a:rPr lang="en-US" sz="2699" spc="-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General Public</a:t>
            </a:r>
          </a:p>
          <a:p>
            <a:pPr algn="just">
              <a:lnSpc>
                <a:spcPts val="4157"/>
              </a:lnSpc>
            </a:pPr>
            <a:endParaRPr lang="en-US" sz="2699" spc="-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Objectives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82314" y="1510580"/>
            <a:ext cx="13506842" cy="7208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2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Primary Objectives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an AI-based system for short-term rainfall nowcasting using satellite data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integrate Explainable AI (XAI) and Physical Dynamics network for transparent model decision interpretation</a:t>
            </a:r>
          </a:p>
          <a:p>
            <a:pPr algn="just">
              <a:lnSpc>
                <a:spcPts val="4752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752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Specific Measurable Objectives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 rainfall intensity and probability at 30-minute resolution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key spatiotemporal drivers influencing predictions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Separate physics-guided dynamics from data-driven residual learning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Analyze and explain model failure cases</a:t>
            </a:r>
          </a:p>
          <a:p>
            <a:pPr marL="582930" lvl="1" indent="-291465" algn="just">
              <a:lnSpc>
                <a:spcPts val="4752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 reproducibility through structured code and data pipelines</a:t>
            </a:r>
          </a:p>
          <a:p>
            <a:pPr algn="just">
              <a:lnSpc>
                <a:spcPts val="4752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Background and Related work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61457" y="2710021"/>
            <a:ext cx="11098023" cy="597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Satellite Based Rainfall Nowcasting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geostationary satellites for continuous Earth observation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satellite indicators:</a:t>
            </a:r>
          </a:p>
          <a:p>
            <a:pPr marL="1165860" lvl="2" indent="-388620" algn="just">
              <a:lnSpc>
                <a:spcPts val="3969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Infrared brightness temperature (cloud top height)</a:t>
            </a:r>
          </a:p>
          <a:p>
            <a:pPr marL="1165860" lvl="2" indent="-388620" algn="just">
              <a:lnSpc>
                <a:spcPts val="3969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Water vapour distribution</a:t>
            </a:r>
          </a:p>
          <a:p>
            <a:pPr marL="1165860" lvl="2" indent="-388620" algn="just">
              <a:lnSpc>
                <a:spcPts val="3969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Cloud evolution patterns</a:t>
            </a:r>
          </a:p>
          <a:p>
            <a:pPr algn="just">
              <a:lnSpc>
                <a:spcPts val="396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6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in Weather Prediction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CNNs and ConvLSTMs capture spatial temporal patterns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Recent shift toward physics-guided deep learning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Growing demand for explainable AI in safety critical systems</a:t>
            </a:r>
          </a:p>
          <a:p>
            <a:pPr algn="just">
              <a:lnSpc>
                <a:spcPts val="396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6337" y="1744895"/>
            <a:ext cx="6947016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Background:Domain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Background and Related work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61457" y="2710021"/>
            <a:ext cx="11098023" cy="597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Existing Approaches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ConvLSTM based rainfall nowcasting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Physics-inspired deep networks for cloudbust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Attention-based spatiotemporal models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Post-hoc explainability methods (Grad CAM, SHAP)</a:t>
            </a:r>
          </a:p>
          <a:p>
            <a:pPr algn="just">
              <a:lnSpc>
                <a:spcPts val="396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6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Limitations in Existing Work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interpretability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separation of physical vs learned behavior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Explanations often qualitative, not scientifically validated</a:t>
            </a:r>
          </a:p>
          <a:p>
            <a:pPr marL="582930" lvl="1" indent="-291465" algn="just">
              <a:lnSpc>
                <a:spcPts val="396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Rare focus on failure explanation</a:t>
            </a:r>
          </a:p>
          <a:p>
            <a:pPr algn="just">
              <a:lnSpc>
                <a:spcPts val="396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6337" y="1744895"/>
            <a:ext cx="6947016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Related work: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08502" y="1602105"/>
            <a:ext cx="13415123" cy="765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Challenges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Highly nonlinear and localized rainfall patterns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imbalance (extreme events are rare)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Temporal misalignment between datasets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Lack of interpretability in deep models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Constraints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Satellite-only inputs (no radar dependency)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labeled extreme rainfall samples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for computational efficiency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Gaps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branch level interpretability in physics guided networks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quantitative validation of explanation relevance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Minimal study of why models fail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1763" y="1423987"/>
            <a:ext cx="13415123" cy="575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Primary Datasets: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GPM IMERG: Ground-truth rainfall (30-min, 0.1°)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INSAT-3D / 3DR: Satellite imagery (IR, WV)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Supporting Datasets: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ERA5 Reanalysis: CAPE, moisture (for explainability validation)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IMD Gridded Rainfall: Independent verification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Software Requirements: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Operating System: Windows 10 / Windows 11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Development Environment: PyCharm IDE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Programming Language: Python 3.9+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6883" y="7168621"/>
            <a:ext cx="8717227" cy="194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Justification: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Dominant language in AI and geospatial research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Extensive scientific computing ecosystem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Supported by NASA, ECMWF, and ISRO data formats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55459" y="1423987"/>
            <a:ext cx="13415123" cy="1068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Hardware Requirements 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CPU: Intel i5 / Ryzen 5 or higher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RAM: 16 GB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Storage: 100+ GB (satellite data intensive)</a:t>
            </a:r>
          </a:p>
          <a:p>
            <a:pPr algn="just">
              <a:lnSpc>
                <a:spcPts val="1350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Libraries 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Core AI &amp; ML Libraries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PyTorch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Torchvision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Handling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NumPy-numerical computation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Pandas-metadata and tabular processing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xarray-multidimensional geospatial data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h5py-HDF5 satellite data access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netCDF4-ERA5 data handling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Visualization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Matplotlib and Cartopy(geospatial plotting)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55459" y="1414462"/>
            <a:ext cx="14710557" cy="829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Baseline Algorithm: ConvLSTM</a:t>
            </a:r>
          </a:p>
          <a:p>
            <a:pPr algn="just">
              <a:lnSpc>
                <a:spcPts val="2160"/>
              </a:lnSpc>
            </a:pPr>
            <a:endParaRPr lang="en-US" sz="2799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ConvLSTM (Convolutional Long Short-Term Memory) combines convolutional layers with recurrent LSTM units to model spatiotemporal sequences. It is widely used in rainfall nowcasting to learn the evolution of precipitation patterns from historical observations.</a:t>
            </a:r>
          </a:p>
          <a:p>
            <a:pPr algn="just">
              <a:lnSpc>
                <a:spcPts val="1350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ConvLSTM is Chosen as Baseline: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Spatial feature learning: CNN kernels capture spatial rainfall structures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Temporal dependency modeling: LSTM gates model time evolution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Literature acceptance: Frequently used benchmark in satellite- and radar-based nowcasting studies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 simplicity: Provides a stable reference for performance comparison</a:t>
            </a:r>
          </a:p>
          <a:p>
            <a:pPr algn="just">
              <a:lnSpc>
                <a:spcPts val="1350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Limitations of ConvLSTM: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Entirely data-driven, with no physical constraints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Learns correlations but not atmospheric dynamics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Acts as a black box with limited interpretability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Prone to unrealistic predictions under rare/extreme events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55459" y="1414462"/>
            <a:ext cx="14710557" cy="819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Algorithm: X-PhyDNow (Explainable Physics-Guided Network)</a:t>
            </a:r>
          </a:p>
          <a:p>
            <a:pPr algn="just">
              <a:lnSpc>
                <a:spcPts val="1350"/>
              </a:lnSpc>
            </a:pPr>
            <a:endParaRPr lang="en-US" sz="2799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Core Architectural Idea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X-PhyDNow extends spatiotemporal deep learning by explicitly separating physical dynamics from residual learning, enabling both improved accuracy and interpretability.</a:t>
            </a:r>
          </a:p>
          <a:p>
            <a:pPr algn="just">
              <a:lnSpc>
                <a:spcPts val="1350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Components: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CNN Encoder: Extracts spatial features from satellite imagery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Physics-Guided Branch: Learns smooth, physically plausible evolution (advection–diffusion–like behavior)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Residual Branch: Captures fast, nonlinear convective variations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Fusion Layer: Integrates physical and residual representations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Prediction Head: Outputs rainfall intensity / probability maps</a:t>
            </a:r>
          </a:p>
          <a:p>
            <a:pPr algn="just">
              <a:lnSpc>
                <a:spcPts val="1350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Physics-Guided Learning: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Aligns learning with known atmospheric behavior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Improves generalization under unseen conditions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Reduces physically implausible rainfall predictions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18720" y="1041664"/>
            <a:ext cx="12970785" cy="881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endParaRPr/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Explainable AI (XAI) Strategy</a:t>
            </a:r>
          </a:p>
          <a:p>
            <a:pPr algn="just">
              <a:lnSpc>
                <a:spcPts val="1250"/>
              </a:lnSpc>
            </a:pPr>
            <a:endParaRPr lang="en-US" sz="2500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Explainability Technique</a:t>
            </a:r>
          </a:p>
          <a:p>
            <a:pPr marL="539787" lvl="1" indent="-269894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Integrated Gradients (IG)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Axiomatic attribution method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Computes pixel-wise contribution of inputs to predictions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Suitable for deep neural networks and satellite imagery</a:t>
            </a:r>
          </a:p>
          <a:p>
            <a:pPr algn="just">
              <a:lnSpc>
                <a:spcPts val="1250"/>
              </a:lnSpc>
            </a:pPr>
            <a:endParaRPr lang="en-US" sz="25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Branch-Wise Explainability (Key Innovation)</a:t>
            </a:r>
          </a:p>
          <a:p>
            <a:pPr marL="539787" lvl="1" indent="-269894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Separate attribution analysis for: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Physics-Guided Branch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Residual (Data-Driven) Branch</a:t>
            </a:r>
          </a:p>
          <a:p>
            <a:pPr marL="539787" lvl="1" indent="-269894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understanding of: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Whether predictions are driven by physical structure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 by purely learned patterns</a:t>
            </a:r>
          </a:p>
          <a:p>
            <a:pPr algn="just">
              <a:lnSpc>
                <a:spcPts val="1250"/>
              </a:lnSpc>
            </a:pPr>
            <a:endParaRPr lang="en-US" sz="25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Failure Analysis</a:t>
            </a:r>
          </a:p>
          <a:p>
            <a:pPr marL="539787" lvl="1" indent="-269894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Contrastive explanations used to analyze: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False positives (false rainfall alarms)</a:t>
            </a:r>
          </a:p>
          <a:p>
            <a:pPr marL="1079575" lvl="2" indent="-359858" algn="just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Missed high-impact rainfall events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6872" y="1423987"/>
            <a:ext cx="14019030" cy="780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3"/>
              </a:lnSpc>
            </a:pPr>
            <a:r>
              <a:rPr lang="en-US" sz="270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Physical Consistency Analysis</a:t>
            </a:r>
          </a:p>
          <a:p>
            <a:pPr algn="just">
              <a:lnSpc>
                <a:spcPts val="1351"/>
              </a:lnSpc>
            </a:pPr>
            <a:endParaRPr lang="en-US" sz="2702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783"/>
              </a:lnSpc>
            </a:pPr>
            <a:r>
              <a:rPr lang="en-US" sz="270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Physical Consistency Score (PCS)</a:t>
            </a:r>
          </a:p>
          <a:p>
            <a:pPr algn="just">
              <a:lnSpc>
                <a:spcPts val="1351"/>
              </a:lnSpc>
            </a:pPr>
            <a:endParaRPr lang="en-US" sz="2702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783"/>
              </a:lnSpc>
            </a:pPr>
            <a:r>
              <a:rPr lang="en-US" sz="270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Purpose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quantitatively evaluate whether AI explanations align with known meteorological principles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Moves explainability beyond visual heatmaps to scientific validation</a:t>
            </a:r>
          </a:p>
          <a:p>
            <a:pPr algn="just">
              <a:lnSpc>
                <a:spcPts val="1351"/>
              </a:lnSpc>
            </a:pPr>
            <a:endParaRPr lang="en-US" sz="2702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83"/>
              </a:lnSpc>
            </a:pPr>
            <a:r>
              <a:rPr lang="en-US" sz="270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Validation Parameters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CAPE: Measures atmospheric instability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Precipitable Water Vapour (PWV): Indicates moisture availability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Cloud-Top Temperature Trends: Proxy for deep convection</a:t>
            </a:r>
          </a:p>
          <a:p>
            <a:pPr algn="just">
              <a:lnSpc>
                <a:spcPts val="1351"/>
              </a:lnSpc>
            </a:pPr>
            <a:endParaRPr lang="en-US" sz="2702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783"/>
              </a:lnSpc>
            </a:pPr>
            <a:r>
              <a:rPr lang="en-US" sz="270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Outcome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explanations are meteorologically meaningful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Improves trustworthiness of AI predictions</a:t>
            </a:r>
          </a:p>
          <a:p>
            <a:pPr marL="583411" lvl="1" indent="-291705" algn="just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Bridges the gap between deep learning and atmospheric science</a:t>
            </a:r>
          </a:p>
          <a:p>
            <a:pPr algn="just">
              <a:lnSpc>
                <a:spcPts val="3783"/>
              </a:lnSpc>
            </a:pPr>
            <a:endParaRPr lang="en-US" sz="2702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 dirty="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Flow Chart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1383205" y="1478184"/>
            <a:ext cx="5374933" cy="8467152"/>
          </a:xfrm>
          <a:custGeom>
            <a:avLst/>
            <a:gdLst/>
            <a:ahLst/>
            <a:cxnLst/>
            <a:rect l="l" t="t" r="r" b="b"/>
            <a:pathLst>
              <a:path w="5374933" h="9067857">
                <a:moveTo>
                  <a:pt x="0" y="0"/>
                </a:moveTo>
                <a:lnTo>
                  <a:pt x="5374933" y="0"/>
                </a:lnTo>
                <a:lnTo>
                  <a:pt x="5374933" y="9067857"/>
                </a:lnTo>
                <a:lnTo>
                  <a:pt x="0" y="9067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35" t="-3311" r="-20614" b="-2520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24000" y="1750218"/>
            <a:ext cx="8153400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framework integrates satellite imagery (INSAT 3D/3DR) and IMERG rainfall data with atmospheric parameters (CAPE, PWV) for physics-aware forecasting.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cropping and spatial-temporal alignment of meteorological variables.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Physics-Guided Model: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Dual-branch architecture combining atmospheric dynamics (physics branch) and convective patterns (residual branch) through feature fusion.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Branch-wise interpretability and Physical Consistency Score (PCS) ensure scientifically reliable predictions.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Rainfall intensity maps with failure analysis (false alarms and misses).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deep learning with atmospheric physics for robust and interpretable rainfall forecasting.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47E2-E812-F974-4538-02209842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3512ECD-908E-466D-5CD1-62AB8E81372C}"/>
              </a:ext>
            </a:extLst>
          </p:cNvPr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BD4177-95F7-1272-ADD9-33CBC7E3F6A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9B0FAB9-24C5-F76F-E286-F8426CA9227E}"/>
                </a:ext>
              </a:extLst>
            </p:cNvPr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3FA41DC-F092-ED11-DED7-DAF84D27B661}"/>
              </a:ext>
            </a:extLst>
          </p:cNvPr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A616D4-5E67-A719-BE7B-20766D949481}"/>
                </a:ext>
              </a:extLst>
            </p:cNvPr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2BF2455-CC0C-0E9C-D8C0-D43237F9D150}"/>
                </a:ext>
              </a:extLst>
            </p:cNvPr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080"/>
                </a:lnSpc>
              </a:pPr>
              <a:r>
                <a:rPr lang="en-US" sz="4200" b="1" dirty="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Architecture Diagram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AF87025-C387-6284-18C1-4EEB52B0EC4B}"/>
              </a:ext>
            </a:extLst>
          </p:cNvPr>
          <p:cNvSpPr txBox="1"/>
          <p:nvPr/>
        </p:nvSpPr>
        <p:spPr>
          <a:xfrm>
            <a:off x="1225062" y="1470879"/>
            <a:ext cx="79248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data (ERA5/GFS weather models)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 (Himawari)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separate encoders process physics and vision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Cross-modal attention fusion combines both data streams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Consistency Score (PCS) guides the fusion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forecaster generates predictions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ConvLSTM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intensity map for 3 hours ahead (T+3h)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Physics-consistency loss provides training feedback to improve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module offers explainability through feature importance and failure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traditional physics models with satellite observations for better nowcasting</a:t>
            </a: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522AE9D2-06E8-9046-3BA2-68305190EAA6}"/>
              </a:ext>
            </a:extLst>
          </p:cNvPr>
          <p:cNvGrpSpPr/>
          <p:nvPr/>
        </p:nvGrpSpPr>
        <p:grpSpPr>
          <a:xfrm>
            <a:off x="1143000" y="370795"/>
            <a:ext cx="16002000" cy="814959"/>
            <a:chOff x="0" y="0"/>
            <a:chExt cx="21336000" cy="1086612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4EADEC0-B3BC-C84C-4906-75B0AD622C8A}"/>
                </a:ext>
              </a:extLst>
            </p:cNvPr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513C46A1-8DEB-C630-073B-B6AB623E1F3E}"/>
                </a:ext>
              </a:extLst>
            </p:cNvPr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endParaRPr lang="en-US" sz="4200" b="1" dirty="0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pic>
        <p:nvPicPr>
          <p:cNvPr id="17" name="Picture 16" descr="A diagram of a system">
            <a:extLst>
              <a:ext uri="{FF2B5EF4-FFF2-40B4-BE49-F238E27FC236}">
                <a16:creationId xmlns:a16="http://schemas.microsoft.com/office/drawing/2014/main" id="{3A6E9C32-924E-2D0B-56A3-E93B0F543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554" y="3232856"/>
            <a:ext cx="8871700" cy="43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21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F4711-2257-B799-D92D-567F9CF9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BAE813-467A-D465-206A-CA1BF4EE867E}"/>
              </a:ext>
            </a:extLst>
          </p:cNvPr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084ABFA-35DF-3A62-EDED-9B484F1EF56C}"/>
              </a:ext>
            </a:extLst>
          </p:cNvPr>
          <p:cNvGrpSpPr>
            <a:grpSpLocks noChangeAspect="1"/>
          </p:cNvGrpSpPr>
          <p:nvPr/>
        </p:nvGrpSpPr>
        <p:grpSpPr>
          <a:xfrm>
            <a:off x="-2" y="9225068"/>
            <a:ext cx="18288002" cy="1299949"/>
            <a:chOff x="0" y="0"/>
            <a:chExt cx="24384002" cy="17332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D22A9C-A7E5-5B11-0362-41E7B612E929}"/>
                </a:ext>
              </a:extLst>
            </p:cNvPr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B6D453-58F4-C81B-5D3B-A2ACF48D2C68}"/>
              </a:ext>
            </a:extLst>
          </p:cNvPr>
          <p:cNvGrpSpPr/>
          <p:nvPr/>
        </p:nvGrpSpPr>
        <p:grpSpPr>
          <a:xfrm>
            <a:off x="1219200" y="-9524"/>
            <a:ext cx="16002000" cy="1236440"/>
            <a:chOff x="0" y="-561975"/>
            <a:chExt cx="21336000" cy="16485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69473E-1B12-0D1F-213E-A2BAD03CA7A4}"/>
                </a:ext>
              </a:extLst>
            </p:cNvPr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FD89F69-30F9-9068-4F53-6B42E5F137FD}"/>
                </a:ext>
              </a:extLst>
            </p:cNvPr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 dirty="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Algorithm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E747288-7365-A28D-1F3F-268FC0E63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743" y="1648397"/>
            <a:ext cx="8915400" cy="85981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970C38-9CE5-1B3D-80B9-493C8E22860A}"/>
              </a:ext>
            </a:extLst>
          </p:cNvPr>
          <p:cNvSpPr txBox="1"/>
          <p:nvPr/>
        </p:nvSpPr>
        <p:spPr>
          <a:xfrm>
            <a:off x="1203633" y="1493114"/>
            <a:ext cx="6797367" cy="787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predicts rainfall intensity by combining satellite visual data and physics-based meteorological data.</a:t>
            </a: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Health Check: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faulty/black satellite images and switches to a fallback physics-only mode if needed.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separate encoders to extract high-level representations from visual and physical inputs.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Consistency Score (PCS):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correlation between visual and physics features to ensure physically meaningful predictions.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Fusion: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weights visual and physics features based on PCS for robust data fusion.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Decoding: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the final rainfall intensity map.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Adaptive, physics-aware fusion improves reliability and handles sensor failure gracefully.</a:t>
            </a:r>
          </a:p>
        </p:txBody>
      </p:sp>
    </p:spTree>
    <p:extLst>
      <p:ext uri="{BB962C8B-B14F-4D97-AF65-F5344CB8AC3E}">
        <p14:creationId xmlns:p14="http://schemas.microsoft.com/office/powerpoint/2010/main" val="61475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Innovation or Novel Contributions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0984" y="1543730"/>
            <a:ext cx="16150400" cy="771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Branch-Wise Explainability (Structural Interpretability):</a:t>
            </a:r>
          </a:p>
          <a:p>
            <a:pPr algn="just">
              <a:lnSpc>
                <a:spcPts val="1256"/>
              </a:lnSpc>
            </a:pPr>
            <a:endParaRPr lang="en-US" sz="2513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Unlike conventional explainable AI approaches that treat the model as a single black box, this project introduces branch wise explainability by design.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Idea:</a:t>
            </a:r>
          </a:p>
          <a:p>
            <a:pPr algn="just">
              <a:lnSpc>
                <a:spcPts val="3519"/>
              </a:lnSpc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deep learning model is explicitly divided into: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Physics-Guided Branch (models smooth, physically plausible atmospheric evolution)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Residual Data-Driven Branch (models fast, nonlinear convective variability)</a:t>
            </a:r>
          </a:p>
          <a:p>
            <a:pPr algn="just">
              <a:lnSpc>
                <a:spcPts val="3519"/>
              </a:lnSpc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Explainability is applied separately to each branch.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this is novel</a:t>
            </a: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works apply XAI after prediction, without understanding which part of the model caused the decision.</a:t>
            </a: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approach reveals: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Whether predictions are driven by physical dynamics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 dominated by purely learned residual patterns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model trust diagnosis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meteorologists decide when to rely on AI predictions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Innovation or Novel Contributions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0984" y="1543730"/>
            <a:ext cx="16150400" cy="677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Physical Consistency Score (PCS):</a:t>
            </a:r>
          </a:p>
          <a:p>
            <a:pPr algn="just">
              <a:lnSpc>
                <a:spcPts val="1256"/>
              </a:lnSpc>
            </a:pPr>
            <a:endParaRPr lang="en-US" sz="2513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introduces a quantitative metric to validate whether AI explanations are physically meaningful.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Idea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XAI heatmaps are compared against known meteorological indicators: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Atmospheric instability (CAPE)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Moisture availability (Precipitable Water Vapour)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Cloud-top temperature trends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degree of spatial and temporal alignment is measured as the Physical Consistency Score (PCS).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this is novel</a:t>
            </a:r>
          </a:p>
          <a:p>
            <a:pPr marL="542695" lvl="1" indent="-271347" algn="just">
              <a:lnSpc>
                <a:spcPts val="3519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Most XAI methods rely on visual plausibility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PCS transforms explainability into a measurable scientific validation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Moves explainable AI from subjective interpretation to objective evaluation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Strengthens scientific credibility of AI-based weather prediction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Innovation or Novel Contributions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0984" y="1543730"/>
            <a:ext cx="16150400" cy="63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Explainable Failure Analysis:</a:t>
            </a:r>
          </a:p>
          <a:p>
            <a:pPr algn="just">
              <a:lnSpc>
                <a:spcPts val="1256"/>
              </a:lnSpc>
            </a:pPr>
            <a:endParaRPr lang="en-US" sz="2513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Instead of explaining only correct predictions, this project explicitly analyzes model failures.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Idea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Contrastive explanations are used to study: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False alarms (predicted rainfall that did not occur)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Missed events (actual rainfall not predicted)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model identifies which missing or weak physical signals led to failure.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this is novel</a:t>
            </a:r>
          </a:p>
          <a:p>
            <a:pPr marL="542695" lvl="1" indent="-271347" algn="just">
              <a:lnSpc>
                <a:spcPts val="3519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Most studies focus solely on improving accuracy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Very few investigate why AI systems fail in extreme weather scenarios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actionable insights for model improvement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Increases reliability in safety-critical forecasting applications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Innovation or Novel Contributions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0984" y="1543730"/>
            <a:ext cx="16150400" cy="765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INSAT-Focused, Region-Specific Framework:</a:t>
            </a:r>
          </a:p>
          <a:p>
            <a:pPr algn="just">
              <a:lnSpc>
                <a:spcPts val="1256"/>
              </a:lnSpc>
            </a:pPr>
            <a:endParaRPr lang="en-US" sz="2513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519"/>
              </a:lnSpc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proposed framework is specifically designed for INSAT-3D / INSAT-3DR satellite data and Indian monsoon dynamics.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Idea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INSAT’s geostationary observations: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Infrared (IR)</a:t>
            </a:r>
          </a:p>
          <a:p>
            <a:pPr marL="1085390" lvl="2" indent="-361797" algn="just">
              <a:lnSpc>
                <a:spcPts val="3519"/>
              </a:lnSpc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Water Vapour (WV)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Tailors preprocessing, thresholds, and evaluation to Indian climatic conditions.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this is novel</a:t>
            </a:r>
          </a:p>
          <a:p>
            <a:pPr marL="542695" lvl="1" indent="-271347" algn="just">
              <a:lnSpc>
                <a:spcPts val="3519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Most advanced rainfall nowcasting studies focus on:</a:t>
            </a:r>
          </a:p>
          <a:p>
            <a:pPr marL="1085390" lvl="2" indent="-361797" algn="just">
              <a:lnSpc>
                <a:spcPts val="3519"/>
              </a:lnSpc>
              <a:spcBef>
                <a:spcPct val="0"/>
              </a:spcBef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GOES (USA)</a:t>
            </a:r>
          </a:p>
          <a:p>
            <a:pPr marL="1085390" lvl="2" indent="-361797" algn="just">
              <a:lnSpc>
                <a:spcPts val="3519"/>
              </a:lnSpc>
              <a:spcBef>
                <a:spcPct val="0"/>
              </a:spcBef>
              <a:buFont typeface="Arial"/>
              <a:buChar char="⚬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Himawari (Japan)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INSAT remains under-explored in explainable AI literature.</a:t>
            </a:r>
          </a:p>
          <a:p>
            <a:pPr algn="just">
              <a:lnSpc>
                <a:spcPts val="1256"/>
              </a:lnSpc>
            </a:pPr>
            <a:endParaRPr lang="en-US" sz="2513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519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Regionally relevant and operationally meaningful</a:t>
            </a:r>
          </a:p>
          <a:p>
            <a:pPr marL="542695" lvl="1" indent="-271347" algn="just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indigenous satellite utilization and local disaster management needs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4959"/>
            <a:chOff x="0" y="0"/>
            <a:chExt cx="21336000" cy="1086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6612"/>
            </a:xfrm>
            <a:custGeom>
              <a:avLst/>
              <a:gdLst/>
              <a:ahLst/>
              <a:cxnLst/>
              <a:rect l="l" t="t" r="r" b="b"/>
              <a:pathLst>
                <a:path w="21336000" h="1086612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Github Link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4426" y="1452562"/>
            <a:ext cx="15819150" cy="279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u="sng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4" tooltip="https://github.com/NayanaBN/XPhyDnow"/>
              </a:rPr>
              <a:t>The </a:t>
            </a:r>
            <a:r>
              <a:rPr lang="en-US" sz="3600" u="sng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4" tooltip="https://github.com/NayanaBN/XPhyDnow"/>
              </a:rPr>
              <a:t>Github</a:t>
            </a:r>
            <a:r>
              <a:rPr lang="en-US" sz="3600" u="sng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4" tooltip="https://github.com/NayanaBN/XPhyDnow"/>
              </a:rPr>
              <a:t> link provided should have public access permission.</a:t>
            </a:r>
          </a:p>
          <a:p>
            <a:pPr algn="just">
              <a:lnSpc>
                <a:spcPts val="4320"/>
              </a:lnSpc>
            </a:pPr>
            <a:endParaRPr lang="en-US" sz="36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  <a:hlinkClick r:id="rId4" tooltip="https://github.com/NayanaBN/XPhyDnow"/>
            </a:endParaRPr>
          </a:p>
          <a:p>
            <a:pPr algn="just">
              <a:lnSpc>
                <a:spcPts val="4320"/>
              </a:lnSpc>
            </a:pPr>
            <a:r>
              <a:rPr lang="en-US" sz="3600" b="1" u="sng" dirty="0">
                <a:solidFill>
                  <a:srgbClr val="95373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4" tooltip="https://github.com/NayanaBN/XPhyDnow"/>
              </a:rPr>
              <a:t>https://github.com/NayanaBN/XPhyDnow</a:t>
            </a:r>
          </a:p>
          <a:p>
            <a:pPr algn="just">
              <a:lnSpc>
                <a:spcPts val="4320"/>
              </a:lnSpc>
            </a:pPr>
            <a:endParaRPr lang="en-US" sz="3600" b="1" u="sng" dirty="0">
              <a:solidFill>
                <a:srgbClr val="953735"/>
              </a:solidFill>
              <a:latin typeface="Times New Roman MT Bold"/>
              <a:ea typeface="Times New Roman MT Bold"/>
              <a:cs typeface="Times New Roman MT Bold"/>
              <a:sym typeface="Times New Roman MT Bold"/>
              <a:hlinkClick r:id="rId4" tooltip="https://github.com/NayanaBN/XPhyDnow"/>
            </a:endParaRPr>
          </a:p>
          <a:p>
            <a:pPr algn="just">
              <a:lnSpc>
                <a:spcPts val="4320"/>
              </a:lnSpc>
            </a:pPr>
            <a:endParaRPr lang="en-US" sz="3600" b="1" u="sng" dirty="0">
              <a:solidFill>
                <a:srgbClr val="953735"/>
              </a:solidFill>
              <a:latin typeface="Times New Roman MT Bold"/>
              <a:ea typeface="Times New Roman MT Bold"/>
              <a:cs typeface="Times New Roman MT Bold"/>
              <a:sym typeface="Times New Roman MT Bold"/>
              <a:hlinkClick r:id="rId4" tooltip="https://github.com/NayanaBN/XPhyDnow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E131F2-974B-E526-DAA8-866E838F0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160701"/>
            <a:ext cx="11658600" cy="65579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Timeline of the Project (Gantt Chart)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4926E3F-FB84-8773-EB22-C59449FC450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" t="10468" r="5022" b="11153"/>
          <a:stretch>
            <a:fillRect/>
          </a:stretch>
        </p:blipFill>
        <p:spPr bwMode="auto">
          <a:xfrm>
            <a:off x="2618906" y="1511448"/>
            <a:ext cx="13050187" cy="7490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2062" y="1519237"/>
            <a:ext cx="16002000" cy="731250"/>
            <a:chOff x="0" y="0"/>
            <a:chExt cx="21336000" cy="97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36000" cy="975000"/>
            </a:xfrm>
            <a:custGeom>
              <a:avLst/>
              <a:gdLst/>
              <a:ahLst/>
              <a:cxnLst/>
              <a:rect l="l" t="t" r="r" b="b"/>
              <a:pathLst>
                <a:path w="21336000" h="975000">
                  <a:moveTo>
                    <a:pt x="0" y="0"/>
                  </a:moveTo>
                  <a:lnTo>
                    <a:pt x="21336000" y="0"/>
                  </a:lnTo>
                  <a:lnTo>
                    <a:pt x="21336000" y="975000"/>
                  </a:lnTo>
                  <a:lnTo>
                    <a:pt x="0" y="97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336000" cy="1032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IEEE Journal Papers: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2062" y="2536237"/>
            <a:ext cx="15444498" cy="6258496"/>
            <a:chOff x="0" y="0"/>
            <a:chExt cx="20592664" cy="83446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592664" cy="8344662"/>
            </a:xfrm>
            <a:custGeom>
              <a:avLst/>
              <a:gdLst/>
              <a:ahLst/>
              <a:cxnLst/>
              <a:rect l="l" t="t" r="r" b="b"/>
              <a:pathLst>
                <a:path w="20592664" h="8344662">
                  <a:moveTo>
                    <a:pt x="0" y="0"/>
                  </a:moveTo>
                  <a:lnTo>
                    <a:pt x="20592664" y="0"/>
                  </a:lnTo>
                  <a:lnTo>
                    <a:pt x="20592664" y="8344662"/>
                  </a:lnTo>
                  <a:lnTo>
                    <a:pt x="0" y="8344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0592664" cy="84018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J. Yuan et al., "A Physics-Enhanced Network for Predicting Sequential Satellite Images of Typhoon Clouds," in IEEE Journal of Selected Topics in Applied Earth Observations and Remote Sensing, vol. 18, pp. 16798-16815, 2025, doi: 10.1109/JSTARS.2025.3574201.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M. Abdullah, S. Waheed, M. Mahmodul Hasan and M. Morshed, "Explainable AI-Driven Dew Point Forecasting With Attention-Based Temporal Convolutional Networks," in IEEE Access, vol. 13, pp. 59923-59948, 2025, doi: 10.1109/ACCESS.2025.3557263.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A. Roy, K. D. Gaikwad, A. J. Hude, J. S. Shinde, J. Parekh and H. R. Nagrani, "Explainable AI (XAI) for Object Detection and Application to Satellite Imagery," in IEEE Access, vol. 13, pp. 185597-185623, 2025, doi: 10.1109/ACCESS.2025.3624198.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L. He et al., "Deep Learning-Based Feature Importance for Rainfall Nowcast Driven by GNSS PWV and CAPE," in IEEE Journal of Selected Topics in Applied Earth Observations and Remote Sensing, vol. 18, pp. 26688-26698, 2025, doi: 10.1109/JSTARS.2025.3621857.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87049"/>
            <a:ext cx="18288002" cy="1299949"/>
            <a:chOff x="0" y="0"/>
            <a:chExt cx="24384002" cy="1733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733296"/>
            </a:xfrm>
            <a:custGeom>
              <a:avLst/>
              <a:gdLst/>
              <a:ahLst/>
              <a:cxnLst/>
              <a:rect l="l" t="t" r="r" b="b"/>
              <a:pathLst>
                <a:path w="24384000" h="1733296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7106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219200" y="411957"/>
            <a:ext cx="16002000" cy="816864"/>
            <a:chOff x="0" y="0"/>
            <a:chExt cx="21336000" cy="1089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0" cy="1089152"/>
            </a:xfrm>
            <a:custGeom>
              <a:avLst/>
              <a:gdLst/>
              <a:ahLst/>
              <a:cxnLst/>
              <a:rect l="l" t="t" r="r" b="b"/>
              <a:pathLst>
                <a:path w="21336000" h="1089152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2062" y="1519237"/>
            <a:ext cx="16002000" cy="731250"/>
            <a:chOff x="0" y="0"/>
            <a:chExt cx="21336000" cy="97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36000" cy="975000"/>
            </a:xfrm>
            <a:custGeom>
              <a:avLst/>
              <a:gdLst/>
              <a:ahLst/>
              <a:cxnLst/>
              <a:rect l="l" t="t" r="r" b="b"/>
              <a:pathLst>
                <a:path w="21336000" h="975000">
                  <a:moveTo>
                    <a:pt x="0" y="0"/>
                  </a:moveTo>
                  <a:lnTo>
                    <a:pt x="21336000" y="0"/>
                  </a:lnTo>
                  <a:lnTo>
                    <a:pt x="21336000" y="975000"/>
                  </a:lnTo>
                  <a:lnTo>
                    <a:pt x="0" y="97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336000" cy="1032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Springer Journal Papers: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2062" y="2536237"/>
            <a:ext cx="15444498" cy="5439346"/>
            <a:chOff x="0" y="0"/>
            <a:chExt cx="20592664" cy="72524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592664" cy="7252462"/>
            </a:xfrm>
            <a:custGeom>
              <a:avLst/>
              <a:gdLst/>
              <a:ahLst/>
              <a:cxnLst/>
              <a:rect l="l" t="t" r="r" b="b"/>
              <a:pathLst>
                <a:path w="20592664" h="7252462">
                  <a:moveTo>
                    <a:pt x="0" y="0"/>
                  </a:moveTo>
                  <a:lnTo>
                    <a:pt x="20592664" y="0"/>
                  </a:lnTo>
                  <a:lnTo>
                    <a:pt x="20592664" y="7252462"/>
                  </a:lnTo>
                  <a:lnTo>
                    <a:pt x="0" y="7252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0592664" cy="73096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B. Lütjens et al., "Generating Physically-Consistent Satellite Imagery for Climate Visualizations," in IEEE Transactions on Geoscience and Remote Sensing, vol. 62, pp. 1-11, 2024, Art no. 4213311, doi: 10.1109/TGRS.2024.3493763.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Li, J., Zheng, J., Li, B. et al. Quantitative Applications of Weather Satellite Data for Nowcasting: Progress and Challenges. J Meteorol Res 38, 399–413 (2024). Li, J., Zheng, J., Li, B. et al. Quantitative Applications of Weather Satellite Data for Nowcasting: Progress and Challenges. J Meteorol Res 38, 399–413 (2024). Li, J., Zheng, J., Li, B. et al. Quantitative Applications of Weather Satellite Data for Nowcasting: Progress and Challenges. J Meteorol Res 38, 399–413 (2024). https://doi.org/10.1007/s13351-024-3138-6</a:t>
              </a:r>
            </a:p>
            <a:p>
              <a:pPr algn="l">
                <a:lnSpc>
                  <a:spcPts val="3240"/>
                </a:lnSpc>
              </a:pPr>
              <a:endPara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Shukla, B.P., Vyas, J., Chhari, A. et al. Satellite based rainfall nowcasting using geospatial techniques. Meteorol Atmos Phys 137, 3 (2025). https://doi.org/10.1007/s00703-024-01049-5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2492</Words>
  <Application>Microsoft Office PowerPoint</Application>
  <PresentationFormat>Custom</PresentationFormat>
  <Paragraphs>434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MT Pro Bold</vt:lpstr>
      <vt:lpstr>Times New Roman</vt:lpstr>
      <vt:lpstr>Times New Roman MT</vt:lpstr>
      <vt:lpstr>Calibri</vt:lpstr>
      <vt:lpstr>Times New Roman MT Bold</vt:lpstr>
      <vt:lpstr>Arial MT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X-PhyDNow</dc:title>
  <cp:lastModifiedBy>Nayana .B.N</cp:lastModifiedBy>
  <cp:revision>1</cp:revision>
  <dcterms:created xsi:type="dcterms:W3CDTF">2006-08-16T00:00:00Z</dcterms:created>
  <dcterms:modified xsi:type="dcterms:W3CDTF">2026-04-14T05:24:17Z</dcterms:modified>
  <dc:identifier>DAG9-2opzQU</dc:identifier>
</cp:coreProperties>
</file>